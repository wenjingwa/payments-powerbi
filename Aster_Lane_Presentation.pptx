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AF05D-04D6-4B24-AA00-912444C40661}" v="45" dt="2026-09-28T23:02:55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inther Larsen" userId="c89f1083beafb5bf" providerId="LiveId" clId="{D1E0B731-3C67-4AD7-BC8D-4BE017645841}"/>
    <pc:docChg chg="undo custSel addSld delSld modSld">
      <pc:chgData name="David Winther Larsen" userId="c89f1083beafb5bf" providerId="LiveId" clId="{D1E0B731-3C67-4AD7-BC8D-4BE017645841}" dt="2026-09-28T23:04:58.137" v="6825" actId="20577"/>
      <pc:docMkLst>
        <pc:docMk/>
      </pc:docMkLst>
      <pc:sldChg chg="modSp mod">
        <pc:chgData name="David Winther Larsen" userId="c89f1083beafb5bf" providerId="LiveId" clId="{D1E0B731-3C67-4AD7-BC8D-4BE017645841}" dt="2026-09-28T23:04:58.137" v="6825" actId="20577"/>
        <pc:sldMkLst>
          <pc:docMk/>
          <pc:sldMk cId="1418593945" sldId="256"/>
        </pc:sldMkLst>
        <pc:spChg chg="mod">
          <ac:chgData name="David Winther Larsen" userId="c89f1083beafb5bf" providerId="LiveId" clId="{D1E0B731-3C67-4AD7-BC8D-4BE017645841}" dt="2026-09-28T23:04:58.137" v="6825" actId="20577"/>
          <ac:spMkLst>
            <pc:docMk/>
            <pc:sldMk cId="1418593945" sldId="256"/>
            <ac:spMk id="2" creationId="{BE979822-60AD-5C7E-1B86-BF55A4413E70}"/>
          </ac:spMkLst>
        </pc:spChg>
        <pc:spChg chg="mod">
          <ac:chgData name="David Winther Larsen" userId="c89f1083beafb5bf" providerId="LiveId" clId="{D1E0B731-3C67-4AD7-BC8D-4BE017645841}" dt="2026-09-28T22:43:14.518" v="6768" actId="20577"/>
          <ac:spMkLst>
            <pc:docMk/>
            <pc:sldMk cId="1418593945" sldId="256"/>
            <ac:spMk id="3" creationId="{DD096A85-BD75-DC71-E37E-289C391BBA7A}"/>
          </ac:spMkLst>
        </pc:spChg>
      </pc:sldChg>
      <pc:sldChg chg="addSp delSp modSp new mod">
        <pc:chgData name="David Winther Larsen" userId="c89f1083beafb5bf" providerId="LiveId" clId="{D1E0B731-3C67-4AD7-BC8D-4BE017645841}" dt="2026-09-28T22:00:10.057" v="4803" actId="113"/>
        <pc:sldMkLst>
          <pc:docMk/>
          <pc:sldMk cId="3031043510" sldId="257"/>
        </pc:sldMkLst>
        <pc:spChg chg="add mod">
          <ac:chgData name="David Winther Larsen" userId="c89f1083beafb5bf" providerId="LiveId" clId="{D1E0B731-3C67-4AD7-BC8D-4BE017645841}" dt="2026-09-28T22:00:10.057" v="4803" actId="113"/>
          <ac:spMkLst>
            <pc:docMk/>
            <pc:sldMk cId="3031043510" sldId="257"/>
            <ac:spMk id="2" creationId="{7375AE33-D014-DDD5-F17B-3A72633914F9}"/>
          </ac:spMkLst>
        </pc:spChg>
        <pc:spChg chg="add del mod">
          <ac:chgData name="David Winther Larsen" userId="c89f1083beafb5bf" providerId="LiveId" clId="{D1E0B731-3C67-4AD7-BC8D-4BE017645841}" dt="2026-09-28T21:43:04.007" v="4236" actId="478"/>
          <ac:spMkLst>
            <pc:docMk/>
            <pc:sldMk cId="3031043510" sldId="257"/>
            <ac:spMk id="3" creationId="{2F0080F5-4A65-2921-E30D-A8B6073BEF4A}"/>
          </ac:spMkLst>
        </pc:spChg>
        <pc:spChg chg="add mod">
          <ac:chgData name="David Winther Larsen" userId="c89f1083beafb5bf" providerId="LiveId" clId="{D1E0B731-3C67-4AD7-BC8D-4BE017645841}" dt="2026-09-27T15:45:17.066" v="2312" actId="20577"/>
          <ac:spMkLst>
            <pc:docMk/>
            <pc:sldMk cId="3031043510" sldId="257"/>
            <ac:spMk id="4" creationId="{0AB62F9C-233C-8C47-9208-BFFDE99E3F81}"/>
          </ac:spMkLst>
        </pc:spChg>
        <pc:spChg chg="add mod">
          <ac:chgData name="David Winther Larsen" userId="c89f1083beafb5bf" providerId="LiveId" clId="{D1E0B731-3C67-4AD7-BC8D-4BE017645841}" dt="2026-09-28T21:43:26.398" v="4244" actId="1076"/>
          <ac:spMkLst>
            <pc:docMk/>
            <pc:sldMk cId="3031043510" sldId="257"/>
            <ac:spMk id="5" creationId="{985FE6B1-A6C4-073B-2778-C50F26DF46A9}"/>
          </ac:spMkLst>
        </pc:spChg>
        <pc:picChg chg="add mod">
          <ac:chgData name="David Winther Larsen" userId="c89f1083beafb5bf" providerId="LiveId" clId="{D1E0B731-3C67-4AD7-BC8D-4BE017645841}" dt="2026-09-28T21:43:19.432" v="4243" actId="1076"/>
          <ac:picMkLst>
            <pc:docMk/>
            <pc:sldMk cId="3031043510" sldId="257"/>
            <ac:picMk id="7" creationId="{1D33D272-9EAB-F07A-1A0E-DF3D16FFE33F}"/>
          </ac:picMkLst>
        </pc:picChg>
      </pc:sldChg>
      <pc:sldChg chg="addSp delSp modSp new mod">
        <pc:chgData name="David Winther Larsen" userId="c89f1083beafb5bf" providerId="LiveId" clId="{D1E0B731-3C67-4AD7-BC8D-4BE017645841}" dt="2026-09-28T23:04:44.551" v="6824" actId="20577"/>
        <pc:sldMkLst>
          <pc:docMk/>
          <pc:sldMk cId="1924877454" sldId="258"/>
        </pc:sldMkLst>
        <pc:spChg chg="del mod">
          <ac:chgData name="David Winther Larsen" userId="c89f1083beafb5bf" providerId="LiveId" clId="{D1E0B731-3C67-4AD7-BC8D-4BE017645841}" dt="2026-09-28T21:59:13.487" v="4774" actId="478"/>
          <ac:spMkLst>
            <pc:docMk/>
            <pc:sldMk cId="1924877454" sldId="258"/>
            <ac:spMk id="2" creationId="{7B7B238F-4584-8DD3-3F0F-BA18893D3028}"/>
          </ac:spMkLst>
        </pc:spChg>
        <pc:spChg chg="add del mod">
          <ac:chgData name="David Winther Larsen" userId="c89f1083beafb5bf" providerId="LiveId" clId="{D1E0B731-3C67-4AD7-BC8D-4BE017645841}" dt="2026-09-28T22:40:40.418" v="6565" actId="478"/>
          <ac:spMkLst>
            <pc:docMk/>
            <pc:sldMk cId="1924877454" sldId="258"/>
            <ac:spMk id="4" creationId="{67255033-99AA-A507-DBFC-EDF78636692A}"/>
          </ac:spMkLst>
        </pc:spChg>
        <pc:spChg chg="add del mod">
          <ac:chgData name="David Winther Larsen" userId="c89f1083beafb5bf" providerId="LiveId" clId="{D1E0B731-3C67-4AD7-BC8D-4BE017645841}" dt="2026-09-28T21:59:17.547" v="4775" actId="478"/>
          <ac:spMkLst>
            <pc:docMk/>
            <pc:sldMk cId="1924877454" sldId="258"/>
            <ac:spMk id="5" creationId="{44D87CC7-A14B-CA41-E212-08C22AEE2BCA}"/>
          </ac:spMkLst>
        </pc:spChg>
        <pc:spChg chg="add mod">
          <ac:chgData name="David Winther Larsen" userId="c89f1083beafb5bf" providerId="LiveId" clId="{D1E0B731-3C67-4AD7-BC8D-4BE017645841}" dt="2026-09-28T22:00:07.326" v="4802" actId="113"/>
          <ac:spMkLst>
            <pc:docMk/>
            <pc:sldMk cId="1924877454" sldId="258"/>
            <ac:spMk id="6" creationId="{4251E568-1BA8-1D4D-2277-353D3325586C}"/>
          </ac:spMkLst>
        </pc:spChg>
        <pc:spChg chg="add mod">
          <ac:chgData name="David Winther Larsen" userId="c89f1083beafb5bf" providerId="LiveId" clId="{D1E0B731-3C67-4AD7-BC8D-4BE017645841}" dt="2026-09-28T23:04:44.551" v="6824" actId="20577"/>
          <ac:spMkLst>
            <pc:docMk/>
            <pc:sldMk cId="1924877454" sldId="258"/>
            <ac:spMk id="8" creationId="{A905DB32-60BA-60A4-9B54-738210CC9446}"/>
          </ac:spMkLst>
        </pc:spChg>
        <pc:spChg chg="add mod">
          <ac:chgData name="David Winther Larsen" userId="c89f1083beafb5bf" providerId="LiveId" clId="{D1E0B731-3C67-4AD7-BC8D-4BE017645841}" dt="2026-09-28T23:04:22.112" v="6823" actId="20577"/>
          <ac:spMkLst>
            <pc:docMk/>
            <pc:sldMk cId="1924877454" sldId="258"/>
            <ac:spMk id="10" creationId="{5FC49BA7-BB42-2691-2047-C8B350103484}"/>
          </ac:spMkLst>
        </pc:spChg>
      </pc:sldChg>
      <pc:sldChg chg="addSp delSp modSp add mod">
        <pc:chgData name="David Winther Larsen" userId="c89f1083beafb5bf" providerId="LiveId" clId="{D1E0B731-3C67-4AD7-BC8D-4BE017645841}" dt="2026-09-28T22:00:12.873" v="4804" actId="113"/>
        <pc:sldMkLst>
          <pc:docMk/>
          <pc:sldMk cId="1360018354" sldId="259"/>
        </pc:sldMkLst>
        <pc:spChg chg="mod">
          <ac:chgData name="David Winther Larsen" userId="c89f1083beafb5bf" providerId="LiveId" clId="{D1E0B731-3C67-4AD7-BC8D-4BE017645841}" dt="2026-09-28T22:00:12.873" v="4804" actId="113"/>
          <ac:spMkLst>
            <pc:docMk/>
            <pc:sldMk cId="1360018354" sldId="259"/>
            <ac:spMk id="2" creationId="{A6D2C089-B2FF-AE7C-2AF2-1C5FE97EF11C}"/>
          </ac:spMkLst>
        </pc:spChg>
        <pc:spChg chg="del">
          <ac:chgData name="David Winther Larsen" userId="c89f1083beafb5bf" providerId="LiveId" clId="{D1E0B731-3C67-4AD7-BC8D-4BE017645841}" dt="2026-09-28T21:43:48.229" v="4245" actId="478"/>
          <ac:spMkLst>
            <pc:docMk/>
            <pc:sldMk cId="1360018354" sldId="259"/>
            <ac:spMk id="3" creationId="{13AFDDBC-0190-31F9-1990-04ECBCC35A8C}"/>
          </ac:spMkLst>
        </pc:spChg>
        <pc:spChg chg="mod">
          <ac:chgData name="David Winther Larsen" userId="c89f1083beafb5bf" providerId="LiveId" clId="{D1E0B731-3C67-4AD7-BC8D-4BE017645841}" dt="2026-09-27T19:19:06.930" v="2564" actId="20577"/>
          <ac:spMkLst>
            <pc:docMk/>
            <pc:sldMk cId="1360018354" sldId="259"/>
            <ac:spMk id="4" creationId="{D2828193-2CBD-4D32-E402-0774441DED56}"/>
          </ac:spMkLst>
        </pc:spChg>
        <pc:spChg chg="mod">
          <ac:chgData name="David Winther Larsen" userId="c89f1083beafb5bf" providerId="LiveId" clId="{D1E0B731-3C67-4AD7-BC8D-4BE017645841}" dt="2026-09-28T21:44:19.294" v="4251" actId="1076"/>
          <ac:spMkLst>
            <pc:docMk/>
            <pc:sldMk cId="1360018354" sldId="259"/>
            <ac:spMk id="5" creationId="{3D2E3882-2B48-DD1E-1FF4-82D2CC495FC1}"/>
          </ac:spMkLst>
        </pc:spChg>
        <pc:picChg chg="add mod">
          <ac:chgData name="David Winther Larsen" userId="c89f1083beafb5bf" providerId="LiveId" clId="{D1E0B731-3C67-4AD7-BC8D-4BE017645841}" dt="2026-09-28T21:44:11.321" v="4250" actId="1076"/>
          <ac:picMkLst>
            <pc:docMk/>
            <pc:sldMk cId="1360018354" sldId="259"/>
            <ac:picMk id="7" creationId="{C2F30057-5EF0-921C-067B-5589A74E44B8}"/>
          </ac:picMkLst>
        </pc:picChg>
      </pc:sldChg>
      <pc:sldChg chg="addSp delSp modSp add mod">
        <pc:chgData name="David Winther Larsen" userId="c89f1083beafb5bf" providerId="LiveId" clId="{D1E0B731-3C67-4AD7-BC8D-4BE017645841}" dt="2026-09-28T23:02:59.189" v="6821" actId="20577"/>
        <pc:sldMkLst>
          <pc:docMk/>
          <pc:sldMk cId="848719217" sldId="260"/>
        </pc:sldMkLst>
        <pc:spChg chg="mod">
          <ac:chgData name="David Winther Larsen" userId="c89f1083beafb5bf" providerId="LiveId" clId="{D1E0B731-3C67-4AD7-BC8D-4BE017645841}" dt="2026-09-28T22:00:15.919" v="4805" actId="113"/>
          <ac:spMkLst>
            <pc:docMk/>
            <pc:sldMk cId="848719217" sldId="260"/>
            <ac:spMk id="2" creationId="{34E9C6B0-CAB9-EFE2-CA23-AD1D345CD8FA}"/>
          </ac:spMkLst>
        </pc:spChg>
        <pc:spChg chg="del">
          <ac:chgData name="David Winther Larsen" userId="c89f1083beafb5bf" providerId="LiveId" clId="{D1E0B731-3C67-4AD7-BC8D-4BE017645841}" dt="2026-09-28T21:44:38.181" v="4252" actId="478"/>
          <ac:spMkLst>
            <pc:docMk/>
            <pc:sldMk cId="848719217" sldId="260"/>
            <ac:spMk id="3" creationId="{6BB51816-E8D2-3EEA-B36C-B135212178A4}"/>
          </ac:spMkLst>
        </pc:spChg>
        <pc:spChg chg="mod">
          <ac:chgData name="David Winther Larsen" userId="c89f1083beafb5bf" providerId="LiveId" clId="{D1E0B731-3C67-4AD7-BC8D-4BE017645841}" dt="2026-09-28T23:02:59.189" v="6821" actId="20577"/>
          <ac:spMkLst>
            <pc:docMk/>
            <pc:sldMk cId="848719217" sldId="260"/>
            <ac:spMk id="4" creationId="{8FAFD944-3A35-06BA-6B39-45B0F42BFB42}"/>
          </ac:spMkLst>
        </pc:spChg>
        <pc:spChg chg="mod">
          <ac:chgData name="David Winther Larsen" userId="c89f1083beafb5bf" providerId="LiveId" clId="{D1E0B731-3C67-4AD7-BC8D-4BE017645841}" dt="2026-09-28T21:52:27.587" v="4268" actId="1076"/>
          <ac:spMkLst>
            <pc:docMk/>
            <pc:sldMk cId="848719217" sldId="260"/>
            <ac:spMk id="5" creationId="{5C649459-795F-E33F-0E33-625B40DC73A9}"/>
          </ac:spMkLst>
        </pc:spChg>
        <pc:picChg chg="add mod">
          <ac:chgData name="David Winther Larsen" userId="c89f1083beafb5bf" providerId="LiveId" clId="{D1E0B731-3C67-4AD7-BC8D-4BE017645841}" dt="2026-09-28T21:51:21.818" v="4259" actId="1076"/>
          <ac:picMkLst>
            <pc:docMk/>
            <pc:sldMk cId="848719217" sldId="260"/>
            <ac:picMk id="7" creationId="{27C2D169-0F63-D918-E451-0B441598EAD2}"/>
          </ac:picMkLst>
        </pc:picChg>
      </pc:sldChg>
      <pc:sldChg chg="addSp delSp modSp add mod">
        <pc:chgData name="David Winther Larsen" userId="c89f1083beafb5bf" providerId="LiveId" clId="{D1E0B731-3C67-4AD7-BC8D-4BE017645841}" dt="2026-09-28T22:00:18.816" v="4806" actId="113"/>
        <pc:sldMkLst>
          <pc:docMk/>
          <pc:sldMk cId="2668539921" sldId="261"/>
        </pc:sldMkLst>
        <pc:spChg chg="mod">
          <ac:chgData name="David Winther Larsen" userId="c89f1083beafb5bf" providerId="LiveId" clId="{D1E0B731-3C67-4AD7-BC8D-4BE017645841}" dt="2026-09-28T22:00:18.816" v="4806" actId="113"/>
          <ac:spMkLst>
            <pc:docMk/>
            <pc:sldMk cId="2668539921" sldId="261"/>
            <ac:spMk id="2" creationId="{273F22CE-5A1B-4E77-17A5-E3B63AC4E3E2}"/>
          </ac:spMkLst>
        </pc:spChg>
        <pc:spChg chg="del">
          <ac:chgData name="David Winther Larsen" userId="c89f1083beafb5bf" providerId="LiveId" clId="{D1E0B731-3C67-4AD7-BC8D-4BE017645841}" dt="2026-09-28T21:51:54.568" v="4260" actId="478"/>
          <ac:spMkLst>
            <pc:docMk/>
            <pc:sldMk cId="2668539921" sldId="261"/>
            <ac:spMk id="3" creationId="{D16A901A-C46A-2BAC-56FD-5DBBA0386576}"/>
          </ac:spMkLst>
        </pc:spChg>
        <pc:spChg chg="mod">
          <ac:chgData name="David Winther Larsen" userId="c89f1083beafb5bf" providerId="LiveId" clId="{D1E0B731-3C67-4AD7-BC8D-4BE017645841}" dt="2026-09-28T00:56:07.715" v="3348" actId="20577"/>
          <ac:spMkLst>
            <pc:docMk/>
            <pc:sldMk cId="2668539921" sldId="261"/>
            <ac:spMk id="4" creationId="{11B08AE5-B449-DA85-CFC5-DF3841A4D654}"/>
          </ac:spMkLst>
        </pc:spChg>
        <pc:spChg chg="mod">
          <ac:chgData name="David Winther Larsen" userId="c89f1083beafb5bf" providerId="LiveId" clId="{D1E0B731-3C67-4AD7-BC8D-4BE017645841}" dt="2026-09-28T21:52:14.414" v="4266" actId="1076"/>
          <ac:spMkLst>
            <pc:docMk/>
            <pc:sldMk cId="2668539921" sldId="261"/>
            <ac:spMk id="5" creationId="{0249B7A3-DFE0-570F-8F12-10688C475DB6}"/>
          </ac:spMkLst>
        </pc:spChg>
        <pc:picChg chg="add mod">
          <ac:chgData name="David Winther Larsen" userId="c89f1083beafb5bf" providerId="LiveId" clId="{D1E0B731-3C67-4AD7-BC8D-4BE017645841}" dt="2026-09-28T21:52:22.260" v="4267" actId="14100"/>
          <ac:picMkLst>
            <pc:docMk/>
            <pc:sldMk cId="2668539921" sldId="261"/>
            <ac:picMk id="7" creationId="{6E21BE7C-E79D-DCE8-45F1-CFE24AEBF210}"/>
          </ac:picMkLst>
        </pc:picChg>
      </pc:sldChg>
      <pc:sldChg chg="addSp delSp modSp add mod">
        <pc:chgData name="David Winther Larsen" userId="c89f1083beafb5bf" providerId="LiveId" clId="{D1E0B731-3C67-4AD7-BC8D-4BE017645841}" dt="2026-09-28T22:00:21.641" v="4807" actId="113"/>
        <pc:sldMkLst>
          <pc:docMk/>
          <pc:sldMk cId="1648019075" sldId="262"/>
        </pc:sldMkLst>
        <pc:spChg chg="mod">
          <ac:chgData name="David Winther Larsen" userId="c89f1083beafb5bf" providerId="LiveId" clId="{D1E0B731-3C67-4AD7-BC8D-4BE017645841}" dt="2026-09-28T22:00:21.641" v="4807" actId="113"/>
          <ac:spMkLst>
            <pc:docMk/>
            <pc:sldMk cId="1648019075" sldId="262"/>
            <ac:spMk id="2" creationId="{FA6455F8-3B1E-6E72-FD65-4852FBAC2A7E}"/>
          </ac:spMkLst>
        </pc:spChg>
        <pc:spChg chg="del">
          <ac:chgData name="David Winther Larsen" userId="c89f1083beafb5bf" providerId="LiveId" clId="{D1E0B731-3C67-4AD7-BC8D-4BE017645841}" dt="2026-09-28T21:52:46.970" v="4269" actId="478"/>
          <ac:spMkLst>
            <pc:docMk/>
            <pc:sldMk cId="1648019075" sldId="262"/>
            <ac:spMk id="3" creationId="{F3CABEEF-A013-1A35-92E2-A0008EF5046A}"/>
          </ac:spMkLst>
        </pc:spChg>
        <pc:spChg chg="mod">
          <ac:chgData name="David Winther Larsen" userId="c89f1083beafb5bf" providerId="LiveId" clId="{D1E0B731-3C67-4AD7-BC8D-4BE017645841}" dt="2026-09-28T19:09:39.749" v="4235" actId="20577"/>
          <ac:spMkLst>
            <pc:docMk/>
            <pc:sldMk cId="1648019075" sldId="262"/>
            <ac:spMk id="4" creationId="{34B1A077-9CC3-D53D-D9BE-B1E4D730BE2D}"/>
          </ac:spMkLst>
        </pc:spChg>
        <pc:spChg chg="mod">
          <ac:chgData name="David Winther Larsen" userId="c89f1083beafb5bf" providerId="LiveId" clId="{D1E0B731-3C67-4AD7-BC8D-4BE017645841}" dt="2026-09-28T21:53:10.654" v="4277" actId="1076"/>
          <ac:spMkLst>
            <pc:docMk/>
            <pc:sldMk cId="1648019075" sldId="262"/>
            <ac:spMk id="5" creationId="{904E83C5-5320-52BD-6503-D6610E59B160}"/>
          </ac:spMkLst>
        </pc:spChg>
        <pc:picChg chg="add mod">
          <ac:chgData name="David Winther Larsen" userId="c89f1083beafb5bf" providerId="LiveId" clId="{D1E0B731-3C67-4AD7-BC8D-4BE017645841}" dt="2026-09-28T21:53:06.991" v="4276" actId="1076"/>
          <ac:picMkLst>
            <pc:docMk/>
            <pc:sldMk cId="1648019075" sldId="262"/>
            <ac:picMk id="7" creationId="{103FBBE8-BD6A-47F4-FEFE-1C4ABC2E4E72}"/>
          </ac:picMkLst>
        </pc:picChg>
      </pc:sldChg>
      <pc:sldChg chg="addSp modSp new mod">
        <pc:chgData name="David Winther Larsen" userId="c89f1083beafb5bf" providerId="LiveId" clId="{D1E0B731-3C67-4AD7-BC8D-4BE017645841}" dt="2026-09-28T22:30:08.586" v="5719" actId="20577"/>
        <pc:sldMkLst>
          <pc:docMk/>
          <pc:sldMk cId="4242226398" sldId="263"/>
        </pc:sldMkLst>
        <pc:spChg chg="add mod">
          <ac:chgData name="David Winther Larsen" userId="c89f1083beafb5bf" providerId="LiveId" clId="{D1E0B731-3C67-4AD7-BC8D-4BE017645841}" dt="2026-09-28T22:16:59.933" v="5435" actId="20577"/>
          <ac:spMkLst>
            <pc:docMk/>
            <pc:sldMk cId="4242226398" sldId="263"/>
            <ac:spMk id="2" creationId="{0E0FF70F-9D66-ACE2-5D1D-0C8B6240C8D3}"/>
          </ac:spMkLst>
        </pc:spChg>
        <pc:spChg chg="add mod">
          <ac:chgData name="David Winther Larsen" userId="c89f1083beafb5bf" providerId="LiveId" clId="{D1E0B731-3C67-4AD7-BC8D-4BE017645841}" dt="2026-09-28T22:17:28.227" v="5438" actId="403"/>
          <ac:spMkLst>
            <pc:docMk/>
            <pc:sldMk cId="4242226398" sldId="263"/>
            <ac:spMk id="3" creationId="{4C448384-DFCC-81C9-2B0A-14E77DDF04B6}"/>
          </ac:spMkLst>
        </pc:spChg>
        <pc:spChg chg="add mod">
          <ac:chgData name="David Winther Larsen" userId="c89f1083beafb5bf" providerId="LiveId" clId="{D1E0B731-3C67-4AD7-BC8D-4BE017645841}" dt="2026-09-28T22:30:08.586" v="5719" actId="20577"/>
          <ac:spMkLst>
            <pc:docMk/>
            <pc:sldMk cId="4242226398" sldId="263"/>
            <ac:spMk id="4" creationId="{467157A1-7F24-1FDD-375C-6CA153E27ACB}"/>
          </ac:spMkLst>
        </pc:spChg>
        <pc:spChg chg="add mod">
          <ac:chgData name="David Winther Larsen" userId="c89f1083beafb5bf" providerId="LiveId" clId="{D1E0B731-3C67-4AD7-BC8D-4BE017645841}" dt="2026-09-28T22:17:02.322" v="5436" actId="20577"/>
          <ac:spMkLst>
            <pc:docMk/>
            <pc:sldMk cId="4242226398" sldId="263"/>
            <ac:spMk id="6" creationId="{C330AC61-E028-4C80-5861-5DA3A23274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2C51-2D77-9A6E-7611-EE049ED3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4C015-DF33-E7EE-8792-CB09BF1E8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9FEA5-5717-9A84-234F-DDE80C31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371D3-8BF9-E6A2-74B3-7FEA9513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93929-339B-7247-0A8C-B200DC92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95200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B425-5F5F-25A7-BC76-27F6AFE0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E393E-3B38-8DED-2979-938F6AC62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636E-CF40-2A19-CEC0-5172A554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684D6-A892-2215-281B-D473947A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E0128-DE55-0B45-EF0A-09D5BB73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503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D855-4554-9E8A-1FD9-11E2FD08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D86D6-2A0A-FE01-56D3-6F7BB045C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E0FEE-D69E-7923-AD97-B7A1FDE9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0A7A-35F8-FA0C-11AC-507F4A1E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D0CC4-0698-9085-C119-F2533294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25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4BE0-9DAF-1278-691C-7DA89611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FD36E-7E88-69E7-530E-FFBE443C4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49FB8-9532-1E93-FEC7-6EA03AF5B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1D76B-BF84-29FD-FD5B-5A7D25D7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CAC39-315B-2FA7-FEF4-B6FB581C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721D0-3D55-BFBF-440F-B1D8181F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3867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0141-0AB5-3183-76AE-8DC2DABB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98EF1-B8E1-9F9E-2CFB-0D1269F4E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5927E-47E7-94E7-7F37-6703ABF34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366C3-D0E6-D120-3E4D-D1E516354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94E8E-0729-9491-7796-FC010FA15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E8C54-F1A7-B584-3A5F-E8C24081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345D6-AF60-3F73-0097-0FF110E1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9DF25-4BED-F0FF-BD2E-6B3F733A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8341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FBEB-8281-B685-29CC-67F81EDA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A5538-6317-84DB-0D82-A8425E90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B8F80-4377-9C13-348A-01546F0D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2F4B7-1A16-C94A-1F7C-F95532CE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05790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4D4BD-1D81-6EB4-9BB3-22D32E44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155E0-B2FF-A511-292B-4A33EC02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FFFE6-E877-EBC8-4360-597BE788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1052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C15E-266E-E57D-61A3-C7717D03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828-0B5F-C9DA-86C8-E8647FDB6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A2C29-0B6D-58E8-16CF-75620954A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A681C-9E16-3C13-0309-833E9D6C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F56B4-885E-6224-1048-E18B389D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5753E-142A-9E1B-42D2-B3DC1400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5274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E226-1B2E-7C2F-4661-6610E372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AB441-CC35-9F3E-8813-58DAE4943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7EB8A-FD68-45F0-3937-48DB5C4ED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065DC-F9A9-D727-127A-DE1610A3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D240F-B78E-352C-B31F-26562B20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B3A34-7A21-3523-08C6-056F1034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103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7F17-81DD-D35E-CBF0-9F48FDCF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D2CD4-8B0A-5A2F-766A-C36E0A573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10D4-8E0D-DFE2-F8DE-877DFC20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3DCE4-DEAC-86D6-A815-7DF39D35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91DFA-4FD5-439F-2725-94CCBD16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547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63195-4CB7-E1AF-AF2E-2A3BE8731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4473A-2734-A1C5-9082-19CE64092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BB730-2601-2302-DE1C-A6A46643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504C-A51E-DCA0-ABEC-493EEF1F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62771-9CF0-6C65-9C72-2E1280B5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4952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A47EA-A87F-1128-562D-C169FF8D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B692E-8A5D-9EEF-18D7-9A947DC4F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9AF7D-CD09-637B-C462-390F3F920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F056D-D86C-4D67-84A4-EEE88BC1A3DC}" type="datetimeFigureOut">
              <a:rPr lang="en-DK" smtClean="0"/>
              <a:t>29/09/2026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C19EB-97AC-2DE4-2031-BD04DB7C6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4EFC6-C58A-3AE7-CA2D-835B17A39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13A91-9D90-4244-A100-5FF352D9BA6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1063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9822-60AD-5C7E-1B86-BF55A4413E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Aster </a:t>
            </a:r>
            <a:r>
              <a:rPr lang="en-US"/>
              <a:t>Lane Payments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96A85-BD75-DC71-E37E-289C391BB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of Portfolio Pricing, Revenue, Surcharge Contribution, Sales Productivity, and Onboarding Speed</a:t>
            </a:r>
          </a:p>
          <a:p>
            <a:r>
              <a:rPr lang="en-US" dirty="0"/>
              <a:t>For </a:t>
            </a:r>
            <a:r>
              <a:rPr lang="en-US"/>
              <a:t>the Leadership </a:t>
            </a:r>
            <a:r>
              <a:rPr lang="en-US" dirty="0"/>
              <a:t>T</a:t>
            </a:r>
            <a:r>
              <a:rPr lang="en-US"/>
              <a:t>eam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418593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51E568-1BA8-1D4D-2277-353D3325586C}"/>
              </a:ext>
            </a:extLst>
          </p:cNvPr>
          <p:cNvSpPr txBox="1"/>
          <p:nvPr/>
        </p:nvSpPr>
        <p:spPr>
          <a:xfrm>
            <a:off x="571499" y="359229"/>
            <a:ext cx="616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Preparation</a:t>
            </a:r>
            <a:endParaRPr lang="en-DK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5DB32-60BA-60A4-9B54-738210CC9446}"/>
              </a:ext>
            </a:extLst>
          </p:cNvPr>
          <p:cNvSpPr txBox="1"/>
          <p:nvPr/>
        </p:nvSpPr>
        <p:spPr>
          <a:xfrm>
            <a:off x="571499" y="1420953"/>
            <a:ext cx="502206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FX rate: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a new query that populate all dates from </a:t>
            </a:r>
            <a:r>
              <a:rPr lang="en-DK" sz="1600" dirty="0"/>
              <a:t>27-10-2024 to 18-08-2026 for the distinct 5 currencies.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Fill up if rate missing.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DK" sz="1600" dirty="0"/>
              <a:t>Assumption: the transaction happened during weekends will be settled until the next working day (need double-checked with finance team)</a:t>
            </a:r>
          </a:p>
          <a:p>
            <a:endParaRPr lang="en-US" sz="1600" dirty="0"/>
          </a:p>
          <a:p>
            <a:r>
              <a:rPr lang="en-US" sz="1600" dirty="0"/>
              <a:t>Salesperson: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Reference a new </a:t>
            </a:r>
            <a:r>
              <a:rPr lang="en-US" sz="1600" dirty="0" err="1"/>
              <a:t>DimSalesperson</a:t>
            </a:r>
            <a:r>
              <a:rPr lang="en-US" sz="1600" dirty="0"/>
              <a:t>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 </a:t>
            </a:r>
            <a:r>
              <a:rPr lang="en-US" sz="1600" dirty="0" err="1"/>
              <a:t>merchant_id</a:t>
            </a:r>
            <a:r>
              <a:rPr lang="en-US" sz="1600" dirty="0"/>
              <a:t> column and remove duplicates of salesperson</a:t>
            </a:r>
          </a:p>
          <a:p>
            <a:endParaRPr lang="en-US" sz="1600" dirty="0"/>
          </a:p>
          <a:p>
            <a:r>
              <a:rPr lang="en-US" sz="1600" dirty="0"/>
              <a:t>Onboarding status: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Pivot table to get timestamp per process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Get onboarding notes in the pivot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 lead time days between stages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C49BA7-BB42-2691-2047-C8B350103484}"/>
              </a:ext>
            </a:extLst>
          </p:cNvPr>
          <p:cNvSpPr txBox="1"/>
          <p:nvPr/>
        </p:nvSpPr>
        <p:spPr>
          <a:xfrm>
            <a:off x="6096000" y="1420953"/>
            <a:ext cx="5022067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Merchants: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 demo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sz="1600" dirty="0"/>
              <a:t>Merge Merchants and Salesperson on </a:t>
            </a:r>
            <a:r>
              <a:rPr lang="en-DK" sz="1600" dirty="0" err="1"/>
              <a:t>merchant_id</a:t>
            </a:r>
            <a:r>
              <a:rPr lang="en-DK" sz="1600" dirty="0"/>
              <a:t> to add </a:t>
            </a:r>
            <a:r>
              <a:rPr lang="en-DK" sz="1600" dirty="0" err="1"/>
              <a:t>salesperson_id</a:t>
            </a:r>
            <a:r>
              <a:rPr lang="en-DK" sz="1600" dirty="0"/>
              <a:t> column in Merchants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sz="1600" dirty="0"/>
              <a:t>Merge Merchants and Onboarding pivot on </a:t>
            </a:r>
            <a:r>
              <a:rPr lang="en-DK" sz="1600" dirty="0" err="1"/>
              <a:t>merchant_id</a:t>
            </a:r>
            <a:r>
              <a:rPr lang="en-DK" sz="1600" dirty="0"/>
              <a:t> to add onboarding timestamps and notes in Merchants table</a:t>
            </a:r>
          </a:p>
          <a:p>
            <a:endParaRPr lang="en-US" sz="1600" dirty="0"/>
          </a:p>
          <a:p>
            <a:r>
              <a:rPr lang="en-US" sz="1600" dirty="0"/>
              <a:t>Transactions: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 duplicate provider reference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err="1"/>
              <a:t>Review_flag</a:t>
            </a:r>
            <a:r>
              <a:rPr lang="en-US" sz="1600" dirty="0"/>
              <a:t> of “DATA_INCIDENT”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 demo accounts related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Merge with FX rate to get exchange rate to 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 amount in EUR</a:t>
            </a:r>
          </a:p>
          <a:p>
            <a:endParaRPr lang="en-US" sz="1600" dirty="0"/>
          </a:p>
          <a:p>
            <a:r>
              <a:rPr lang="en-US" sz="1600" dirty="0"/>
              <a:t>Date: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a Date table </a:t>
            </a:r>
            <a:r>
              <a:rPr lang="en-DK" sz="1600" dirty="0"/>
              <a:t>starts from </a:t>
            </a:r>
            <a:r>
              <a:rPr lang="en-US" sz="1600" dirty="0"/>
              <a:t>01</a:t>
            </a:r>
            <a:r>
              <a:rPr lang="en-DK" sz="1600" dirty="0"/>
              <a:t>-10-2024 to 18-08-2026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487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75AE33-D014-DDD5-F17B-3A72633914F9}"/>
              </a:ext>
            </a:extLst>
          </p:cNvPr>
          <p:cNvSpPr txBox="1"/>
          <p:nvPr/>
        </p:nvSpPr>
        <p:spPr>
          <a:xfrm>
            <a:off x="566057" y="374469"/>
            <a:ext cx="614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Portfolio pricing</a:t>
            </a:r>
          </a:p>
          <a:p>
            <a:r>
              <a:rPr lang="en-US" dirty="0"/>
              <a:t>- Development of the portfolio’s average rate each month</a:t>
            </a:r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62F9C-233C-8C47-9208-BFFDE99E3F81}"/>
              </a:ext>
            </a:extLst>
          </p:cNvPr>
          <p:cNvSpPr txBox="1"/>
          <p:nvPr/>
        </p:nvSpPr>
        <p:spPr>
          <a:xfrm>
            <a:off x="5852161" y="1151453"/>
            <a:ext cx="601762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Description: </a:t>
            </a:r>
          </a:p>
          <a:p>
            <a:r>
              <a:rPr lang="en-US" sz="1200" dirty="0"/>
              <a:t>The Portfolio Rate is the average fee the merchant pays Aster Lane for each card payment, as a percentage of the amount.</a:t>
            </a:r>
          </a:p>
          <a:p>
            <a:r>
              <a:rPr lang="en-US" sz="1200" dirty="0"/>
              <a:t>Surcharge rate is not included here.  </a:t>
            </a:r>
          </a:p>
          <a:p>
            <a:endParaRPr lang="en-US" sz="1200" dirty="0"/>
          </a:p>
          <a:p>
            <a:r>
              <a:rPr lang="en-DK" sz="1200" b="1" dirty="0"/>
              <a:t>Main business question: </a:t>
            </a:r>
            <a:endParaRPr lang="en-DK" sz="1200" dirty="0"/>
          </a:p>
          <a:p>
            <a:pPr algn="ctr"/>
            <a:r>
              <a:rPr lang="en-DK" sz="1200" i="1" dirty="0"/>
              <a:t>Are we earning less per euro we process, and if so, where and why?</a:t>
            </a:r>
            <a:endParaRPr lang="en-US" sz="1200" i="1" dirty="0"/>
          </a:p>
          <a:p>
            <a:endParaRPr lang="en-US" sz="1200" dirty="0"/>
          </a:p>
          <a:p>
            <a:r>
              <a:rPr lang="en-US" sz="1200" b="1" dirty="0"/>
              <a:t>Stakeholders: </a:t>
            </a:r>
          </a:p>
          <a:p>
            <a:r>
              <a:rPr lang="en-DK" sz="1200" dirty="0"/>
              <a:t>Head of Pricing (KPI owner): </a:t>
            </a:r>
            <a:endParaRPr lang="en-US" sz="1200" dirty="0"/>
          </a:p>
          <a:p>
            <a:pPr algn="ctr"/>
            <a:r>
              <a:rPr lang="en-DK" sz="1200" i="1" dirty="0"/>
              <a:t>Are we setting up the prices too low?</a:t>
            </a:r>
            <a:endParaRPr lang="en-DK" sz="1200" dirty="0"/>
          </a:p>
          <a:p>
            <a:r>
              <a:rPr lang="en-DK" sz="1200" dirty="0"/>
              <a:t>CFO</a:t>
            </a:r>
            <a:r>
              <a:rPr lang="en-US" sz="1200" dirty="0"/>
              <a:t> </a:t>
            </a:r>
            <a:r>
              <a:rPr lang="en-DK" sz="1200" dirty="0"/>
              <a:t>/</a:t>
            </a:r>
            <a:r>
              <a:rPr lang="en-US" sz="1200" dirty="0"/>
              <a:t> </a:t>
            </a:r>
            <a:r>
              <a:rPr lang="en-DK" sz="1200" dirty="0"/>
              <a:t>Finance: </a:t>
            </a:r>
          </a:p>
          <a:p>
            <a:pPr algn="ctr"/>
            <a:r>
              <a:rPr lang="en-DK" sz="1200" i="1" dirty="0"/>
              <a:t>Did lower prices boost volume, which eventually led to high revenue?</a:t>
            </a:r>
            <a:endParaRPr lang="en-DK" sz="1200" dirty="0"/>
          </a:p>
          <a:p>
            <a:pPr algn="ctr"/>
            <a:r>
              <a:rPr lang="en-DK" sz="1200" i="1" dirty="0"/>
              <a:t>Is growth "bought" with price?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KPI: </a:t>
            </a:r>
          </a:p>
          <a:p>
            <a:r>
              <a:rPr lang="en-DK" sz="1200" dirty="0"/>
              <a:t>Portfolio Rate (bps) -&gt; what we earned per </a:t>
            </a:r>
            <a:r>
              <a:rPr lang="en-DK" sz="1200" dirty="0" err="1"/>
              <a:t>eur</a:t>
            </a:r>
            <a:r>
              <a:rPr lang="en-DK" sz="1200" dirty="0"/>
              <a:t> (the weighted average across all payments)</a:t>
            </a:r>
          </a:p>
          <a:p>
            <a:pPr algn="ctr"/>
            <a:r>
              <a:rPr lang="en-DK" sz="1100" i="1" dirty="0"/>
              <a:t>Sum of (</a:t>
            </a:r>
            <a:r>
              <a:rPr lang="en-DK" sz="1100" i="1" dirty="0" err="1"/>
              <a:t>amount_eur</a:t>
            </a:r>
            <a:r>
              <a:rPr lang="en-DK" sz="1100" i="1" dirty="0"/>
              <a:t> * </a:t>
            </a:r>
            <a:r>
              <a:rPr lang="en-DK" sz="1100" i="1" dirty="0" err="1"/>
              <a:t>rate_bps</a:t>
            </a:r>
            <a:r>
              <a:rPr lang="en-DK" sz="1100" i="1" dirty="0"/>
              <a:t>) / sum of </a:t>
            </a:r>
            <a:r>
              <a:rPr lang="en-DK" sz="1100" i="1" dirty="0" err="1"/>
              <a:t>amount_eur</a:t>
            </a:r>
            <a:endParaRPr lang="en-DK" sz="1100" dirty="0"/>
          </a:p>
          <a:p>
            <a:pPr algn="ctr"/>
            <a:r>
              <a:rPr lang="en-DK" sz="1100" i="1" dirty="0"/>
              <a:t>Where status is APPROVED, </a:t>
            </a:r>
            <a:r>
              <a:rPr lang="en-DK" sz="1100" i="1" dirty="0" err="1"/>
              <a:t>event_type</a:t>
            </a:r>
            <a:r>
              <a:rPr lang="en-DK" sz="1100" i="1" dirty="0"/>
              <a:t> is SALE</a:t>
            </a:r>
            <a:endParaRPr lang="en-DK" sz="1100" dirty="0"/>
          </a:p>
          <a:p>
            <a:endParaRPr lang="en-US" sz="1200" dirty="0"/>
          </a:p>
          <a:p>
            <a:r>
              <a:rPr lang="en-US" sz="1200" b="1" dirty="0"/>
              <a:t>Target: </a:t>
            </a:r>
          </a:p>
          <a:p>
            <a:endParaRPr lang="en-US" sz="1200" dirty="0"/>
          </a:p>
          <a:p>
            <a:r>
              <a:rPr lang="en-US" sz="1200" b="1" dirty="0"/>
              <a:t>Finding:</a:t>
            </a:r>
          </a:p>
          <a:p>
            <a:r>
              <a:rPr lang="en-US" sz="1200" dirty="0"/>
              <a:t>The Portfolio Rate falls from around 198 to 186 bps. </a:t>
            </a:r>
          </a:p>
          <a:p>
            <a:r>
              <a:rPr lang="en-US" sz="1200" dirty="0"/>
              <a:t>The drop is concentrated in mid-market segment from almost 190 to 171 bps, while its volume share proportion remains flat over time at around 50%. </a:t>
            </a:r>
            <a:endParaRPr lang="en-DK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FE6B1-A6C4-073B-2778-C50F26DF46A9}"/>
              </a:ext>
            </a:extLst>
          </p:cNvPr>
          <p:cNvSpPr txBox="1"/>
          <p:nvPr/>
        </p:nvSpPr>
        <p:spPr>
          <a:xfrm>
            <a:off x="426175" y="5337274"/>
            <a:ext cx="5077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Further analysis: </a:t>
            </a:r>
          </a:p>
          <a:p>
            <a:r>
              <a:rPr lang="en-US" sz="1200" dirty="0"/>
              <a:t>Competitor price analysis</a:t>
            </a:r>
          </a:p>
          <a:p>
            <a:r>
              <a:rPr lang="en-US" sz="1200" dirty="0"/>
              <a:t>Signing rate of new merchants and existing merchants</a:t>
            </a:r>
            <a:endParaRPr lang="en-DK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33D272-9EAB-F07A-1A0E-DF3D16FF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17" y="1388254"/>
            <a:ext cx="5285014" cy="293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4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97BC-DD82-DB04-8911-8BB7E9D9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D2C089-B2FF-AE7C-2AF2-1C5FE97EF11C}"/>
              </a:ext>
            </a:extLst>
          </p:cNvPr>
          <p:cNvSpPr txBox="1"/>
          <p:nvPr/>
        </p:nvSpPr>
        <p:spPr>
          <a:xfrm>
            <a:off x="566057" y="374469"/>
            <a:ext cx="614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Revenue Growth</a:t>
            </a:r>
          </a:p>
          <a:p>
            <a:r>
              <a:rPr lang="en-US" dirty="0"/>
              <a:t>- Development of revenue in EUR each month</a:t>
            </a:r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28193-2CBD-4D32-E402-0774441DED56}"/>
              </a:ext>
            </a:extLst>
          </p:cNvPr>
          <p:cNvSpPr txBox="1"/>
          <p:nvPr/>
        </p:nvSpPr>
        <p:spPr>
          <a:xfrm>
            <a:off x="5852161" y="1151453"/>
            <a:ext cx="60176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Description: </a:t>
            </a:r>
          </a:p>
          <a:p>
            <a:r>
              <a:rPr lang="en-US" sz="1200" dirty="0"/>
              <a:t>The Revenue is the sum of rate multiplied by the amount, in EUR. </a:t>
            </a:r>
          </a:p>
          <a:p>
            <a:r>
              <a:rPr lang="en-US" sz="1200" dirty="0"/>
              <a:t>Both approved sales and refunds are included. </a:t>
            </a:r>
          </a:p>
          <a:p>
            <a:endParaRPr lang="en-US" sz="1200" dirty="0"/>
          </a:p>
          <a:p>
            <a:r>
              <a:rPr lang="en-DK" sz="1200" b="1" dirty="0"/>
              <a:t>Main business question: </a:t>
            </a:r>
            <a:endParaRPr lang="en-DK" sz="1200" dirty="0"/>
          </a:p>
          <a:p>
            <a:pPr algn="ctr"/>
            <a:r>
              <a:rPr lang="en-US" sz="1200" i="1" dirty="0"/>
              <a:t>How much do we earn, is it growing, and is the growth healthy? </a:t>
            </a:r>
          </a:p>
          <a:p>
            <a:endParaRPr lang="en-US" sz="1200" dirty="0"/>
          </a:p>
          <a:p>
            <a:r>
              <a:rPr lang="en-US" sz="1200" b="1" dirty="0"/>
              <a:t>Stakeholders: </a:t>
            </a:r>
          </a:p>
          <a:p>
            <a:r>
              <a:rPr lang="en-US" sz="1200" dirty="0"/>
              <a:t>CFO / Finance (KPI owner): </a:t>
            </a:r>
          </a:p>
          <a:p>
            <a:pPr algn="ctr"/>
            <a:r>
              <a:rPr lang="en-DK" sz="1200" i="1" dirty="0"/>
              <a:t>Monthly revenue for reporting, budget and forecast</a:t>
            </a:r>
            <a:endParaRPr lang="en-DK" sz="1200" dirty="0"/>
          </a:p>
          <a:p>
            <a:r>
              <a:rPr lang="en-DK" sz="1200" dirty="0"/>
              <a:t>CEO / Management: </a:t>
            </a:r>
          </a:p>
          <a:p>
            <a:pPr algn="ctr"/>
            <a:r>
              <a:rPr lang="en-DK" sz="1200" i="1" dirty="0"/>
              <a:t>What is our growth pace? </a:t>
            </a:r>
            <a:r>
              <a:rPr lang="en-US" sz="1200" i="1" dirty="0"/>
              <a:t>To report </a:t>
            </a:r>
            <a:r>
              <a:rPr lang="en-DK" sz="1200" i="1" dirty="0"/>
              <a:t>to the board and investors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KPIs: </a:t>
            </a:r>
          </a:p>
          <a:p>
            <a:r>
              <a:rPr lang="en-US" sz="1200" dirty="0"/>
              <a:t>Total</a:t>
            </a:r>
            <a:r>
              <a:rPr lang="en-DK" sz="1200" dirty="0"/>
              <a:t> Revenue EUR</a:t>
            </a:r>
          </a:p>
          <a:p>
            <a:pPr algn="ctr"/>
            <a:r>
              <a:rPr lang="en-DK" sz="1200" i="1" dirty="0"/>
              <a:t>Sum of (</a:t>
            </a:r>
            <a:r>
              <a:rPr lang="en-DK" sz="1200" i="1" dirty="0" err="1"/>
              <a:t>amount_eur</a:t>
            </a:r>
            <a:r>
              <a:rPr lang="en-DK" sz="1200" i="1" dirty="0"/>
              <a:t> * </a:t>
            </a:r>
            <a:r>
              <a:rPr lang="en-US" sz="1200" i="1" dirty="0"/>
              <a:t>(</a:t>
            </a:r>
            <a:r>
              <a:rPr lang="en-DK" sz="1200" i="1" dirty="0" err="1"/>
              <a:t>rate_bps</a:t>
            </a:r>
            <a:r>
              <a:rPr lang="en-US" sz="1200" i="1" dirty="0"/>
              <a:t> + </a:t>
            </a:r>
            <a:r>
              <a:rPr lang="en-US" sz="1200" i="1" dirty="0" err="1"/>
              <a:t>surcharge_bps</a:t>
            </a:r>
            <a:r>
              <a:rPr lang="en-US" sz="1200" i="1" dirty="0"/>
              <a:t>)</a:t>
            </a:r>
            <a:r>
              <a:rPr lang="en-DK" sz="1200" i="1" dirty="0"/>
              <a:t>) / 10000</a:t>
            </a:r>
            <a:endParaRPr lang="en-US" sz="1200" dirty="0"/>
          </a:p>
          <a:p>
            <a:r>
              <a:rPr lang="en-DK" sz="1200" dirty="0"/>
              <a:t>Rate Revenue EUR</a:t>
            </a:r>
          </a:p>
          <a:p>
            <a:pPr algn="ctr"/>
            <a:r>
              <a:rPr lang="en-DK" sz="1200" i="1" dirty="0"/>
              <a:t>Sum of (</a:t>
            </a:r>
            <a:r>
              <a:rPr lang="en-DK" sz="1200" i="1" dirty="0" err="1"/>
              <a:t>amount_eur</a:t>
            </a:r>
            <a:r>
              <a:rPr lang="en-DK" sz="1200" i="1" dirty="0"/>
              <a:t> * </a:t>
            </a:r>
            <a:r>
              <a:rPr lang="en-DK" sz="1200" i="1" dirty="0" err="1"/>
              <a:t>rate_bps</a:t>
            </a:r>
            <a:r>
              <a:rPr lang="en-DK" sz="1200" i="1" dirty="0"/>
              <a:t>) / 10000</a:t>
            </a:r>
            <a:endParaRPr lang="en-DK" sz="1200" dirty="0"/>
          </a:p>
          <a:p>
            <a:r>
              <a:rPr lang="en-DK" sz="1200" dirty="0"/>
              <a:t>Surcharge Revenue EUR</a:t>
            </a:r>
          </a:p>
          <a:p>
            <a:pPr algn="ctr"/>
            <a:r>
              <a:rPr lang="en-DK" sz="1200" i="1" dirty="0"/>
              <a:t>Sum of (</a:t>
            </a:r>
            <a:r>
              <a:rPr lang="en-DK" sz="1200" i="1" dirty="0" err="1"/>
              <a:t>amount_eur</a:t>
            </a:r>
            <a:r>
              <a:rPr lang="en-DK" sz="1200" i="1" dirty="0"/>
              <a:t> * </a:t>
            </a:r>
            <a:r>
              <a:rPr lang="en-DK" sz="1200" i="1" dirty="0" err="1"/>
              <a:t>surcharge_bps</a:t>
            </a:r>
            <a:r>
              <a:rPr lang="en-DK" sz="1200" i="1" dirty="0"/>
              <a:t>) / 10000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Target: </a:t>
            </a:r>
          </a:p>
          <a:p>
            <a:endParaRPr lang="en-US" sz="1200" dirty="0"/>
          </a:p>
          <a:p>
            <a:r>
              <a:rPr lang="en-US" sz="1200" b="1" dirty="0"/>
              <a:t>Findings:</a:t>
            </a:r>
          </a:p>
          <a:p>
            <a:r>
              <a:rPr lang="en-US" sz="1200" dirty="0"/>
              <a:t>So far this year, the total revenue increased more than 250% compared with last year. And the main driver is the number of merchants, which we have developed 10 times since start 2025. 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2E3882-2B48-DD1E-1FF4-82D2CC495FC1}"/>
              </a:ext>
            </a:extLst>
          </p:cNvPr>
          <p:cNvSpPr txBox="1"/>
          <p:nvPr/>
        </p:nvSpPr>
        <p:spPr>
          <a:xfrm>
            <a:off x="566057" y="5290316"/>
            <a:ext cx="5077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Further analysis: </a:t>
            </a:r>
          </a:p>
          <a:p>
            <a:r>
              <a:rPr lang="en-US" sz="1200" dirty="0"/>
              <a:t>Comparison of new merchants and existing merchants</a:t>
            </a:r>
          </a:p>
          <a:p>
            <a:r>
              <a:rPr lang="en-US" sz="1200" dirty="0"/>
              <a:t>Split the revenue into different markets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30057-5EF0-921C-067B-5589A74E4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94" y="1396381"/>
            <a:ext cx="5263242" cy="29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1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89D4-70B4-6F5B-691B-3B7A09C8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E9C6B0-CAB9-EFE2-CA23-AD1D345CD8FA}"/>
              </a:ext>
            </a:extLst>
          </p:cNvPr>
          <p:cNvSpPr txBox="1"/>
          <p:nvPr/>
        </p:nvSpPr>
        <p:spPr>
          <a:xfrm>
            <a:off x="566057" y="374469"/>
            <a:ext cx="614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Surcharge Contribution</a:t>
            </a:r>
          </a:p>
          <a:p>
            <a:r>
              <a:rPr lang="en-US" dirty="0"/>
              <a:t>- How much surcharge as a product adds to the portfolio rate</a:t>
            </a:r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FD944-3A35-06BA-6B39-45B0F42BFB42}"/>
              </a:ext>
            </a:extLst>
          </p:cNvPr>
          <p:cNvSpPr txBox="1"/>
          <p:nvPr/>
        </p:nvSpPr>
        <p:spPr>
          <a:xfrm>
            <a:off x="5852161" y="1151453"/>
            <a:ext cx="6017622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Description: </a:t>
            </a:r>
          </a:p>
          <a:p>
            <a:r>
              <a:rPr lang="en-US" altLang="zh-CN" sz="1200" dirty="0"/>
              <a:t>Surcharge is an extra fee on top of the base rate, applied on certain card payments. </a:t>
            </a:r>
          </a:p>
          <a:p>
            <a:r>
              <a:rPr lang="en-US" sz="1200" dirty="0"/>
              <a:t>Surcharge is a way to protect earnings without lowering or raising the headline price: offer a lower base rate to win customers and recover it via surcharge on the expensive cards.</a:t>
            </a:r>
          </a:p>
          <a:p>
            <a:endParaRPr lang="en-US" sz="1200" dirty="0"/>
          </a:p>
          <a:p>
            <a:r>
              <a:rPr lang="en-DK" sz="1200" b="1" dirty="0"/>
              <a:t>Main business question: </a:t>
            </a:r>
            <a:endParaRPr lang="en-DK" sz="1200" dirty="0"/>
          </a:p>
          <a:p>
            <a:pPr algn="ctr"/>
            <a:r>
              <a:rPr lang="en-DK" sz="1200" i="1" dirty="0"/>
              <a:t>Is the surcharge product worth it, and should we push it harder?</a:t>
            </a:r>
            <a:endParaRPr lang="en-US" sz="1200" i="1" dirty="0"/>
          </a:p>
          <a:p>
            <a:endParaRPr lang="en-US" sz="1200" dirty="0"/>
          </a:p>
          <a:p>
            <a:r>
              <a:rPr lang="en-US" sz="1200" b="1" dirty="0"/>
              <a:t>Stakeholders: </a:t>
            </a:r>
          </a:p>
          <a:p>
            <a:r>
              <a:rPr lang="en-DK" sz="1200" dirty="0"/>
              <a:t>Head of Pricing (KPI Owner): </a:t>
            </a:r>
          </a:p>
          <a:p>
            <a:pPr algn="ctr"/>
            <a:r>
              <a:rPr lang="en-DK" sz="1200" i="1" dirty="0"/>
              <a:t>Does the surcharge policy work? Is it applied where it should be?</a:t>
            </a:r>
            <a:endParaRPr lang="en-US" sz="1200" dirty="0"/>
          </a:p>
          <a:p>
            <a:r>
              <a:rPr lang="en-DK" sz="1200" dirty="0"/>
              <a:t>CFO / Finance: </a:t>
            </a:r>
          </a:p>
          <a:p>
            <a:pPr algn="ctr"/>
            <a:r>
              <a:rPr lang="en-DK" sz="1200" i="1" dirty="0"/>
              <a:t>How much of revenue depends on surcharge? How stable is it?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KPI: </a:t>
            </a:r>
          </a:p>
          <a:p>
            <a:r>
              <a:rPr lang="en-DK" sz="1200" dirty="0"/>
              <a:t>Surcharge Rate</a:t>
            </a:r>
          </a:p>
          <a:p>
            <a:pPr algn="ctr"/>
            <a:r>
              <a:rPr lang="en-DK" sz="1200" i="1" dirty="0"/>
              <a:t>Sum of (</a:t>
            </a:r>
            <a:r>
              <a:rPr lang="en-DK" sz="1200" i="1" dirty="0" err="1"/>
              <a:t>amount_eur</a:t>
            </a:r>
            <a:r>
              <a:rPr lang="en-DK" sz="1200" i="1" dirty="0"/>
              <a:t> * </a:t>
            </a:r>
            <a:r>
              <a:rPr lang="en-DK" sz="1200" i="1" dirty="0" err="1"/>
              <a:t>surcharge_bps</a:t>
            </a:r>
            <a:r>
              <a:rPr lang="en-DK" sz="1200" i="1" dirty="0"/>
              <a:t>) / sum of </a:t>
            </a:r>
            <a:r>
              <a:rPr lang="en-DK" sz="1200" i="1" dirty="0" err="1"/>
              <a:t>amount_eur</a:t>
            </a:r>
            <a:endParaRPr lang="en-DK" sz="1200" dirty="0"/>
          </a:p>
          <a:p>
            <a:pPr algn="ctr"/>
            <a:r>
              <a:rPr lang="en-DK" sz="1200" i="1" dirty="0"/>
              <a:t>Where status is APPROVED</a:t>
            </a:r>
            <a:r>
              <a:rPr lang="en-US" sz="1200" i="1" dirty="0"/>
              <a:t>, </a:t>
            </a:r>
            <a:r>
              <a:rPr lang="en-DK" sz="1200" dirty="0" err="1"/>
              <a:t>event_type</a:t>
            </a:r>
            <a:r>
              <a:rPr lang="en-DK" sz="1200" dirty="0"/>
              <a:t> is SALE</a:t>
            </a:r>
            <a:endParaRPr lang="en-US" sz="1200" dirty="0"/>
          </a:p>
          <a:p>
            <a:endParaRPr lang="en-US" sz="1200" dirty="0"/>
          </a:p>
          <a:p>
            <a:r>
              <a:rPr lang="en-DK" sz="1200" dirty="0"/>
              <a:t>Surcharge Share of Revenue % </a:t>
            </a:r>
          </a:p>
          <a:p>
            <a:pPr algn="ctr"/>
            <a:r>
              <a:rPr lang="en-DK" sz="1200" i="1" dirty="0"/>
              <a:t>Surcharge revenue / Total revenue</a:t>
            </a:r>
            <a:endParaRPr lang="en-DK" sz="1200" dirty="0"/>
          </a:p>
          <a:p>
            <a:endParaRPr lang="en-US" sz="1200" i="1" dirty="0"/>
          </a:p>
          <a:p>
            <a:r>
              <a:rPr lang="en-US" sz="1200" dirty="0"/>
              <a:t>Volume with Surcharge % </a:t>
            </a:r>
          </a:p>
          <a:p>
            <a:pPr algn="ctr"/>
            <a:r>
              <a:rPr lang="en-DK" sz="1200" i="1" dirty="0"/>
              <a:t>Share of volume with surcharge &gt; 0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Findings:</a:t>
            </a:r>
          </a:p>
          <a:p>
            <a:r>
              <a:rPr lang="en-US" altLang="zh-CN" sz="1200" dirty="0"/>
              <a:t>Surcharge rate adds around 21 bps to the total rate, contributing to 10% of the total revenue, quite stable over time. </a:t>
            </a:r>
            <a:endParaRPr lang="en-US" sz="1200" dirty="0"/>
          </a:p>
          <a:p>
            <a:r>
              <a:rPr lang="en-US" altLang="zh-CN" sz="1200" dirty="0"/>
              <a:t>E</a:t>
            </a:r>
            <a:r>
              <a:rPr lang="en-DK" sz="1200" dirty="0" err="1"/>
              <a:t>ven</a:t>
            </a:r>
            <a:r>
              <a:rPr lang="en-DK" sz="1200" dirty="0"/>
              <a:t> though we earn more per </a:t>
            </a:r>
            <a:r>
              <a:rPr lang="en-US" sz="1200" dirty="0"/>
              <a:t>E</a:t>
            </a:r>
            <a:r>
              <a:rPr lang="en-DK" sz="1200" dirty="0" err="1"/>
              <a:t>uros</a:t>
            </a:r>
            <a:r>
              <a:rPr lang="en-DK" sz="1200" dirty="0"/>
              <a:t> for </a:t>
            </a:r>
            <a:r>
              <a:rPr lang="en-US" sz="1200" dirty="0"/>
              <a:t>N</a:t>
            </a:r>
            <a:r>
              <a:rPr lang="en-DK" sz="1200" dirty="0"/>
              <a:t>on-</a:t>
            </a:r>
            <a:r>
              <a:rPr lang="en-US" sz="1200" dirty="0"/>
              <a:t>EEA</a:t>
            </a:r>
            <a:r>
              <a:rPr lang="en-DK" sz="1200" dirty="0"/>
              <a:t> card </a:t>
            </a:r>
            <a:r>
              <a:rPr lang="en-US" sz="1200" dirty="0"/>
              <a:t>on</a:t>
            </a:r>
            <a:r>
              <a:rPr lang="en-DK" sz="1200" dirty="0"/>
              <a:t> average, our main surcharge revenue comes from </a:t>
            </a:r>
            <a:r>
              <a:rPr lang="en-US" sz="1200" dirty="0"/>
              <a:t>EEA</a:t>
            </a:r>
            <a:r>
              <a:rPr lang="en-DK" sz="1200" dirty="0"/>
              <a:t> card </a:t>
            </a:r>
            <a:r>
              <a:rPr lang="en-US" sz="1200" dirty="0"/>
              <a:t>and </a:t>
            </a:r>
            <a:r>
              <a:rPr lang="en-US" altLang="zh-CN" sz="1200" dirty="0"/>
              <a:t>Domestic card </a:t>
            </a:r>
            <a:r>
              <a:rPr lang="en-DK" sz="1200" dirty="0"/>
              <a:t>with </a:t>
            </a:r>
            <a:r>
              <a:rPr lang="en-US" sz="1200" dirty="0"/>
              <a:t>almost 80%.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49459-795F-E33F-0E33-625B40DC73A9}"/>
              </a:ext>
            </a:extLst>
          </p:cNvPr>
          <p:cNvSpPr txBox="1"/>
          <p:nvPr/>
        </p:nvSpPr>
        <p:spPr>
          <a:xfrm>
            <a:off x="533399" y="5393118"/>
            <a:ext cx="5077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Further analysis: </a:t>
            </a:r>
          </a:p>
          <a:p>
            <a:r>
              <a:rPr lang="en-US" sz="1200" dirty="0"/>
              <a:t>Legal &amp; Compliance stakeholders: surcharge is regulated in EU. Is it applied correctly? </a:t>
            </a:r>
          </a:p>
          <a:p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C2D169-0F63-D918-E451-0B441598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94" y="1464882"/>
            <a:ext cx="5342708" cy="299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1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CA6E-D6F7-BABA-F751-1EE99184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3F22CE-5A1B-4E77-17A5-E3B63AC4E3E2}"/>
              </a:ext>
            </a:extLst>
          </p:cNvPr>
          <p:cNvSpPr txBox="1"/>
          <p:nvPr/>
        </p:nvSpPr>
        <p:spPr>
          <a:xfrm>
            <a:off x="566057" y="374469"/>
            <a:ext cx="614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Sales Productivity</a:t>
            </a:r>
          </a:p>
          <a:p>
            <a:r>
              <a:rPr lang="en-US" dirty="0"/>
              <a:t>- Denmark and Finland</a:t>
            </a:r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08AE5-B449-DA85-CFC5-DF3841A4D654}"/>
              </a:ext>
            </a:extLst>
          </p:cNvPr>
          <p:cNvSpPr txBox="1"/>
          <p:nvPr/>
        </p:nvSpPr>
        <p:spPr>
          <a:xfrm>
            <a:off x="5852161" y="1151453"/>
            <a:ext cx="601762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Description: </a:t>
            </a:r>
          </a:p>
          <a:p>
            <a:r>
              <a:rPr lang="en-US" sz="1200" dirty="0"/>
              <a:t>As in the findings from Revenue Growth, Aster Lane grows by new merchants. So sales productivity is the growth engine. </a:t>
            </a:r>
          </a:p>
          <a:p>
            <a:endParaRPr lang="en-US" sz="1200" dirty="0"/>
          </a:p>
          <a:p>
            <a:r>
              <a:rPr lang="en-DK" sz="1200" b="1" dirty="0"/>
              <a:t>Main business question: </a:t>
            </a:r>
            <a:endParaRPr lang="en-DK" sz="1200" dirty="0"/>
          </a:p>
          <a:p>
            <a:pPr algn="ctr"/>
            <a:r>
              <a:rPr lang="en-DK" sz="1200" i="1" dirty="0"/>
              <a:t>How productive are our sales teams, and</a:t>
            </a:r>
            <a:endParaRPr lang="en-DK" sz="1200" dirty="0"/>
          </a:p>
          <a:p>
            <a:pPr algn="ctr"/>
            <a:r>
              <a:rPr lang="en-DK" sz="1200" i="1" dirty="0"/>
              <a:t>is one country doing something the other can learn from?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Stakeholders: </a:t>
            </a:r>
          </a:p>
          <a:p>
            <a:r>
              <a:rPr lang="en-DK" sz="1200" dirty="0"/>
              <a:t>Head of Sales (KPI Owner): </a:t>
            </a:r>
          </a:p>
          <a:p>
            <a:pPr algn="ctr"/>
            <a:r>
              <a:rPr lang="en-DK" sz="1200" i="1" dirty="0"/>
              <a:t>Compare teams, set targets, decide on hiring</a:t>
            </a:r>
            <a:endParaRPr lang="en-DK" sz="1200" dirty="0"/>
          </a:p>
          <a:p>
            <a:r>
              <a:rPr lang="en-DK" sz="1200" dirty="0"/>
              <a:t>Country managers (DK and FI): </a:t>
            </a:r>
          </a:p>
          <a:p>
            <a:pPr algn="ctr"/>
            <a:r>
              <a:rPr lang="en-DK" sz="1200" i="1" dirty="0"/>
              <a:t>How their team performs vs. the other country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KPI: </a:t>
            </a:r>
          </a:p>
          <a:p>
            <a:r>
              <a:rPr lang="en-US" sz="1200" dirty="0"/>
              <a:t>AVG Sales per Salesperson in Merchants</a:t>
            </a:r>
          </a:p>
          <a:p>
            <a:r>
              <a:rPr lang="en-US" sz="1200" dirty="0"/>
              <a:t>AVG Sales per Salesperson in Revenue</a:t>
            </a:r>
          </a:p>
          <a:p>
            <a:endParaRPr lang="en-US" sz="1200" dirty="0"/>
          </a:p>
          <a:p>
            <a:r>
              <a:rPr lang="en-US" sz="1200" b="1" dirty="0"/>
              <a:t>Finding:</a:t>
            </a:r>
          </a:p>
          <a:p>
            <a:r>
              <a:rPr lang="en-US" sz="1200" dirty="0"/>
              <a:t>Finland is doing better than Denmark for most of the time, whether sales in merchants sold or in revenue merchants brought. </a:t>
            </a:r>
          </a:p>
          <a:p>
            <a:r>
              <a:rPr lang="en-US" sz="1200" dirty="0"/>
              <a:t>Finland sells more Micro merchants, at a high rate, while Denmark sells fewer, bigger deals, at a lower rate. </a:t>
            </a:r>
          </a:p>
          <a:p>
            <a:r>
              <a:rPr lang="en-US" altLang="zh-CN" sz="1200" dirty="0"/>
              <a:t>Denmark team has a wider spread in terms of sales performance. Denmark South team is the weakest. </a:t>
            </a:r>
          </a:p>
          <a:p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9B7A3-DFE0-570F-8F12-10688C475DB6}"/>
              </a:ext>
            </a:extLst>
          </p:cNvPr>
          <p:cNvSpPr txBox="1"/>
          <p:nvPr/>
        </p:nvSpPr>
        <p:spPr>
          <a:xfrm>
            <a:off x="528252" y="5079065"/>
            <a:ext cx="5077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Further analysis: </a:t>
            </a:r>
          </a:p>
          <a:p>
            <a:r>
              <a:rPr lang="en-US" sz="1200" dirty="0"/>
              <a:t>Sales strategy difference in all teams</a:t>
            </a:r>
          </a:p>
          <a:p>
            <a:r>
              <a:rPr lang="en-US" sz="1200" dirty="0"/>
              <a:t>Salesperson data: time on the job, vacation, </a:t>
            </a:r>
            <a:r>
              <a:rPr lang="en-US" sz="1200" dirty="0" err="1"/>
              <a:t>etc</a:t>
            </a:r>
            <a:endParaRPr lang="en-US" sz="1200" dirty="0"/>
          </a:p>
          <a:p>
            <a:r>
              <a:rPr lang="en-US" sz="1200" dirty="0"/>
              <a:t>Sales quality: churn and activation per salesperson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21BE7C-E79D-DCE8-45F1-CFE24AEBF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81" y="1417372"/>
            <a:ext cx="5378040" cy="301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3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7848-EE4A-3496-CB10-77312A75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6455F8-3B1E-6E72-FD65-4852FBAC2A7E}"/>
              </a:ext>
            </a:extLst>
          </p:cNvPr>
          <p:cNvSpPr txBox="1"/>
          <p:nvPr/>
        </p:nvSpPr>
        <p:spPr>
          <a:xfrm>
            <a:off x="566056" y="374469"/>
            <a:ext cx="6670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Onboarding Speed</a:t>
            </a:r>
          </a:p>
          <a:p>
            <a:r>
              <a:rPr lang="en-US" dirty="0"/>
              <a:t>- Is the business getting better at onboarding customers faster? </a:t>
            </a:r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1A077-9CC3-D53D-D9BE-B1E4D730BE2D}"/>
              </a:ext>
            </a:extLst>
          </p:cNvPr>
          <p:cNvSpPr txBox="1"/>
          <p:nvPr/>
        </p:nvSpPr>
        <p:spPr>
          <a:xfrm>
            <a:off x="5852161" y="1151453"/>
            <a:ext cx="60176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Description: </a:t>
            </a:r>
          </a:p>
          <a:p>
            <a:r>
              <a:rPr lang="en-US" sz="1200" dirty="0"/>
              <a:t>Onboarding is the gap between sold and earning. </a:t>
            </a:r>
          </a:p>
          <a:p>
            <a:endParaRPr lang="en-US" sz="1200" dirty="0"/>
          </a:p>
          <a:p>
            <a:r>
              <a:rPr lang="en-DK" sz="1200" b="1" dirty="0"/>
              <a:t>Main business question: </a:t>
            </a:r>
            <a:endParaRPr lang="en-DK" sz="1200" dirty="0"/>
          </a:p>
          <a:p>
            <a:pPr algn="ctr"/>
            <a:r>
              <a:rPr lang="en-DK" sz="1200" i="1" dirty="0"/>
              <a:t>How quickly does a signed customer start generating revenue, </a:t>
            </a:r>
            <a:endParaRPr lang="en-DK" sz="1200" dirty="0"/>
          </a:p>
          <a:p>
            <a:pPr algn="ctr"/>
            <a:r>
              <a:rPr lang="en-DK" sz="1200" i="1" dirty="0"/>
              <a:t>and is it getting faster?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Stakeholders: </a:t>
            </a:r>
          </a:p>
          <a:p>
            <a:r>
              <a:rPr lang="en-DK" sz="1200" dirty="0"/>
              <a:t>Head of Operations / Onboarding (KPI Owner): </a:t>
            </a:r>
          </a:p>
          <a:p>
            <a:pPr algn="ctr"/>
            <a:r>
              <a:rPr lang="en-DK" sz="1200" i="1" dirty="0"/>
              <a:t>Process efficiency, bottlenecks, capacity</a:t>
            </a:r>
            <a:endParaRPr lang="en-DK" sz="1200" dirty="0"/>
          </a:p>
          <a:p>
            <a:r>
              <a:rPr lang="en-DK" sz="1200" dirty="0"/>
              <a:t>Logistics / hardware: </a:t>
            </a:r>
          </a:p>
          <a:p>
            <a:pPr algn="ctr"/>
            <a:r>
              <a:rPr lang="en-DK" sz="1200" i="1" dirty="0"/>
              <a:t>Equipment delivery, the biggest delay reason</a:t>
            </a:r>
            <a:endParaRPr lang="en-DK" sz="1200" dirty="0"/>
          </a:p>
          <a:p>
            <a:endParaRPr lang="en-US" sz="1200" dirty="0"/>
          </a:p>
          <a:p>
            <a:r>
              <a:rPr lang="en-US" sz="1200" b="1" dirty="0"/>
              <a:t>KPI: </a:t>
            </a:r>
          </a:p>
          <a:p>
            <a:r>
              <a:rPr lang="en-DK" sz="1200" dirty="0"/>
              <a:t>Median </a:t>
            </a:r>
            <a:r>
              <a:rPr lang="en-US" sz="1200" dirty="0"/>
              <a:t>LT </a:t>
            </a:r>
            <a:r>
              <a:rPr lang="en-DK" sz="1200" dirty="0"/>
              <a:t>days, sold → installed</a:t>
            </a:r>
          </a:p>
          <a:p>
            <a:pPr algn="ctr"/>
            <a:r>
              <a:rPr lang="en-DK" sz="1200" i="1" dirty="0"/>
              <a:t>Median of (Installed − Sold) </a:t>
            </a:r>
            <a:endParaRPr lang="en-US" sz="1200" i="1" dirty="0"/>
          </a:p>
          <a:p>
            <a:r>
              <a:rPr lang="en-DK" sz="1200" dirty="0"/>
              <a:t>% installed within 21 days</a:t>
            </a:r>
          </a:p>
          <a:p>
            <a:pPr algn="ctr"/>
            <a:r>
              <a:rPr lang="en-DK" sz="1200" i="1" dirty="0"/>
              <a:t>Share of the cohort installed ≤ 21 days after sale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Finding:</a:t>
            </a:r>
          </a:p>
          <a:p>
            <a:r>
              <a:rPr lang="en-US" altLang="zh-CN" sz="1200" dirty="0"/>
              <a:t>The drop is entirely in the process from Onboarding to Installed with median LT from 26 to 10 days, while it always takes 1-2 days from Sold to Onboarding. 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93% of</a:t>
            </a:r>
            <a:r>
              <a:rPr lang="zh-CN" altLang="en-US" sz="1200" dirty="0"/>
              <a:t> </a:t>
            </a:r>
            <a:r>
              <a:rPr lang="en-US" altLang="zh-CN" sz="1200" dirty="0"/>
              <a:t>the</a:t>
            </a:r>
            <a:r>
              <a:rPr lang="zh-CN" altLang="en-US" sz="1200" dirty="0"/>
              <a:t> </a:t>
            </a:r>
            <a:r>
              <a:rPr lang="en-US" altLang="zh-CN" sz="1200" dirty="0"/>
              <a:t>merchants</a:t>
            </a:r>
            <a:r>
              <a:rPr lang="zh-CN" altLang="en-US" sz="1200" dirty="0"/>
              <a:t> </a:t>
            </a:r>
            <a:r>
              <a:rPr lang="en-US" altLang="zh-CN" sz="1200" dirty="0"/>
              <a:t>went</a:t>
            </a:r>
            <a:r>
              <a:rPr lang="zh-CN" altLang="en-US" sz="1200" dirty="0"/>
              <a:t> </a:t>
            </a:r>
            <a:r>
              <a:rPr lang="en-US" altLang="zh-CN" sz="1200" dirty="0"/>
              <a:t>through standard onboarding, and the median LT for standard onboarding has dropped from 25 to 12 days. There’s a general process improvement in company onboarding process. 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E83C5-5320-52BD-6503-D6610E59B160}"/>
              </a:ext>
            </a:extLst>
          </p:cNvPr>
          <p:cNvSpPr txBox="1"/>
          <p:nvPr/>
        </p:nvSpPr>
        <p:spPr>
          <a:xfrm>
            <a:off x="531222" y="5066690"/>
            <a:ext cx="5077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Further analysis: </a:t>
            </a:r>
          </a:p>
          <a:p>
            <a:r>
              <a:rPr lang="en-US" sz="1200" dirty="0"/>
              <a:t>Customer experience </a:t>
            </a:r>
          </a:p>
          <a:p>
            <a:r>
              <a:rPr lang="en-US" sz="1200" dirty="0"/>
              <a:t>Comparison between different countries</a:t>
            </a:r>
          </a:p>
          <a:p>
            <a:r>
              <a:rPr lang="en-US" sz="1200" dirty="0"/>
              <a:t>Lead time from installed to first transactions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FBBE8-BD6A-47F4-FEFE-1C4ABC2E4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17" y="1375811"/>
            <a:ext cx="5495108" cy="307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19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FF70F-9D66-ACE2-5D1D-0C8B6240C8D3}"/>
              </a:ext>
            </a:extLst>
          </p:cNvPr>
          <p:cNvSpPr txBox="1"/>
          <p:nvPr/>
        </p:nvSpPr>
        <p:spPr>
          <a:xfrm>
            <a:off x="579662" y="749450"/>
            <a:ext cx="3820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Key Takeaways</a:t>
            </a:r>
            <a:endParaRPr lang="en-DK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48384-DFCC-81C9-2B0A-14E77DDF04B6}"/>
              </a:ext>
            </a:extLst>
          </p:cNvPr>
          <p:cNvSpPr txBox="1"/>
          <p:nvPr/>
        </p:nvSpPr>
        <p:spPr>
          <a:xfrm>
            <a:off x="5782962" y="1420953"/>
            <a:ext cx="62113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Alignment meetings with stakeholders to confirm on: 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Data quality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Their expectations and needs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KPI and dashboard setup </a:t>
            </a:r>
          </a:p>
          <a:p>
            <a:pPr marL="342900" indent="-342900">
              <a:buAutoNum type="arabicPeriod"/>
            </a:pPr>
            <a:r>
              <a:rPr lang="en-US" sz="1600" dirty="0"/>
              <a:t>Compliance check on surcharge in EU</a:t>
            </a:r>
          </a:p>
          <a:p>
            <a:pPr marL="342900" indent="-342900">
              <a:buAutoNum type="arabicPeriod"/>
            </a:pPr>
            <a:r>
              <a:rPr lang="en-US" sz="1600" dirty="0"/>
              <a:t>Deep dive analysis on operational dashboards &amp; reporting</a:t>
            </a:r>
          </a:p>
          <a:p>
            <a:pPr marL="342900" indent="-342900">
              <a:buAutoNum type="arabicPeriod"/>
            </a:pPr>
            <a:r>
              <a:rPr lang="en-US" sz="1600" dirty="0"/>
              <a:t>Dashboard design: 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KPI set up (</a:t>
            </a:r>
            <a:r>
              <a:rPr lang="en-US" sz="1600" dirty="0" err="1"/>
              <a:t>colours</a:t>
            </a:r>
            <a:r>
              <a:rPr lang="en-US" sz="1600" dirty="0"/>
              <a:t> for trends and targets)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Some more texts that help reading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Interactions between charts and slicers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 err="1"/>
              <a:t>Colour</a:t>
            </a:r>
            <a:r>
              <a:rPr lang="en-US" sz="1600" dirty="0"/>
              <a:t> palette: fit for company theme and </a:t>
            </a:r>
            <a:r>
              <a:rPr lang="en-US" sz="1600" dirty="0" err="1"/>
              <a:t>colour</a:t>
            </a:r>
            <a:r>
              <a:rPr lang="en-US" sz="1600" dirty="0"/>
              <a:t>-blindness people</a:t>
            </a:r>
            <a:endParaRPr lang="en-DK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157A1-7F24-1FDD-375C-6CA153E27ACB}"/>
              </a:ext>
            </a:extLst>
          </p:cNvPr>
          <p:cNvSpPr txBox="1"/>
          <p:nvPr/>
        </p:nvSpPr>
        <p:spPr>
          <a:xfrm>
            <a:off x="579662" y="1420953"/>
            <a:ext cx="50220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Growth comes from more merchants.</a:t>
            </a:r>
          </a:p>
          <a:p>
            <a:pPr lvl="1"/>
            <a:r>
              <a:rPr lang="en-US" sz="1600" dirty="0"/>
              <a:t>Active merchants are up 10 times since Jan 2025. Portfolio rate is falling, mainly in mid-market segment. </a:t>
            </a:r>
          </a:p>
          <a:p>
            <a:pPr marL="342900" indent="-342900">
              <a:buAutoNum type="arabicPeriod"/>
            </a:pPr>
            <a:r>
              <a:rPr lang="en-US" sz="1600" dirty="0"/>
              <a:t>Finland sold 15% more per salesperson, mainly because they sold more small and quick micro deals. Denmark team’s performance was more widely distributed.</a:t>
            </a:r>
          </a:p>
          <a:p>
            <a:pPr marL="342900" indent="-342900">
              <a:buAutoNum type="arabicPeriod"/>
            </a:pPr>
            <a:r>
              <a:rPr lang="en-US" sz="1600" dirty="0"/>
              <a:t>Onboarding time dropped more than 50% over time. 93% merchant went through standard process, 5% facing delays. Improvements in company onboarding process. </a:t>
            </a:r>
          </a:p>
          <a:p>
            <a:pPr marL="342900" indent="-342900">
              <a:buAutoNum type="arabicPeriod"/>
            </a:pPr>
            <a:r>
              <a:rPr lang="en-US" sz="1600" dirty="0"/>
              <a:t>Risk: 80% of the surcharge revenue comes from EEA and domestic cards, where EU surcharge rules are strict. </a:t>
            </a:r>
            <a:endParaRPr lang="en-DK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0AC61-E028-4C80-5861-5DA3A23274A0}"/>
              </a:ext>
            </a:extLst>
          </p:cNvPr>
          <p:cNvSpPr txBox="1"/>
          <p:nvPr/>
        </p:nvSpPr>
        <p:spPr>
          <a:xfrm>
            <a:off x="5782962" y="761218"/>
            <a:ext cx="3820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Next Steps</a:t>
            </a:r>
            <a:endParaRPr lang="en-DK" b="1" dirty="0"/>
          </a:p>
        </p:txBody>
      </p:sp>
    </p:spTree>
    <p:extLst>
      <p:ext uri="{BB962C8B-B14F-4D97-AF65-F5344CB8AC3E}">
        <p14:creationId xmlns:p14="http://schemas.microsoft.com/office/powerpoint/2010/main" val="424222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3592</TotalTime>
  <Words>1430</Words>
  <Application>Microsoft Office PowerPoint</Application>
  <PresentationFormat>Widescreen</PresentationFormat>
  <Paragraphs>195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Aster Lane Payments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Winther Larsen</dc:creator>
  <cp:lastModifiedBy>David Winther Larsen</cp:lastModifiedBy>
  <cp:revision>1</cp:revision>
  <dcterms:created xsi:type="dcterms:W3CDTF">2026-09-26T09:36:11Z</dcterms:created>
  <dcterms:modified xsi:type="dcterms:W3CDTF">2026-09-28T23:05:00Z</dcterms:modified>
</cp:coreProperties>
</file>